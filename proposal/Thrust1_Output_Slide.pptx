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hat I propose" id="{85669b92-62cf-4e60-40d7-d15710a1cc1e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show what Thrust 1 hands to Thrust 2, and how each discrepancy maps to the research question's four labels.
Thrust 1 outputs: refined spec FSM with confidence records, n learned FSMs, and the discrepancies nuXmv found.
For each discrepancy, replay its input sequence on all n devices and count k, the devices that match the spec FSM. This fills the confidence record: support = k, contradiction = n − k.
Case 1 (k = n): no discrepancy; nothing to triage. Caveat: if the spec itself is insecure, everyone agrees; that is a spec-level flaw, outside this loop.
Case 2 (k = 0, devices agree): the key case. Either the LLM misread the clause (a), or every vendor shares a flaw (d), which differential testing cannot see; or the spec allows both and the spec FSM picked the other option (b). Device consensus cannot decide (tie-break rule); re-read the retrieved text and check LTL in nuXmv.
Case 3 (split): a few outliers are likely (d); if the clause allows both, (b); if vendors followed two different clauses, (c). This is DIKEUE's "not clear which one", and the spec FSM breaks the tie.
Case 4 (k = 0, devices also disagree): likely (c) ambiguity, or (b) noise; replay first. Can be mixed, e.g. (a) plus (d); labels are not exclusive.
The case only narrows the likely labels; the label is final when the clause plus a tool confirms it.
Small n caveat: with 2–3 software UEs, "most devices agree" is weak; more commercial phones make cases 2 and 3 convincing.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737360"/>
            <a:ext cx="106984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61188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731520" y="512064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2103120"/>
            <a:ext cx="1069848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60604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840480"/>
            <a:ext cx="96012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1440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Ajoy Dey · Ph.D. proposal · SysNetS Lab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Thrust 1 output: four cases per discrepancy</a:t>
            </a:r>
            <a:endParaRPr lang="en-US" sz="3200" dirty="0"/>
          </a:p>
        </p:txBody>
      </p:sp>
      <p:sp>
        <p:nvSpPr>
          <p:cNvPr id="3" name="output 1"/>
          <p:cNvSpPr txBox="1"/>
          <p:nvPr/>
        </p:nvSpPr>
        <p:spPr>
          <a:xfrm>
            <a:off x="548640" y="1143000"/>
            <a:ext cx="3502152" cy="685800"/>
          </a:xfrm>
          <a:prstGeom prst="roundRect">
            <a:avLst>
              <a:gd name="adj" fmla="val 8000"/>
            </a:avLst>
          </a:prstGeom>
          <a:solidFill>
            <a:schemeClr val="accent1">
              <a:alpha val="12000"/>
            </a:schemeClr>
          </a:solidFill>
          <a:ln w="15875"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Refined spec FSM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+ confidence records</a:t>
            </a:r>
            <a:endParaRPr lang="en-US" sz="1400" dirty="0"/>
          </a:p>
        </p:txBody>
      </p:sp>
      <p:sp>
        <p:nvSpPr>
          <p:cNvPr id="4" name="output 2"/>
          <p:cNvSpPr txBox="1"/>
          <p:nvPr/>
        </p:nvSpPr>
        <p:spPr>
          <a:xfrm>
            <a:off x="4325112" y="1143000"/>
            <a:ext cx="3502152" cy="685800"/>
          </a:xfrm>
          <a:prstGeom prst="roundRect">
            <a:avLst>
              <a:gd name="adj" fmla="val 8000"/>
            </a:avLst>
          </a:prstGeom>
          <a:solidFill>
            <a:schemeClr val="accent2">
              <a:alpha val="12000"/>
            </a:schemeClr>
          </a:solidFill>
          <a:ln w="15875">
            <a:solidFill>
              <a:schemeClr val="accent2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 learned FSMs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one per device</a:t>
            </a:r>
            <a:endParaRPr lang="en-US" sz="1400" dirty="0"/>
          </a:p>
        </p:txBody>
      </p:sp>
      <p:sp>
        <p:nvSpPr>
          <p:cNvPr id="5" name="output 3"/>
          <p:cNvSpPr txBox="1"/>
          <p:nvPr/>
        </p:nvSpPr>
        <p:spPr>
          <a:xfrm>
            <a:off x="8101584" y="1143000"/>
            <a:ext cx="3502152" cy="6858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25400">
            <a:solidFill>
              <a:schemeClr val="accent3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Discrepancies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input replayed on all n devices</a:t>
            </a:r>
            <a:endParaRPr lang="en-US" sz="1400" dirty="0"/>
          </a:p>
        </p:txBody>
      </p:sp>
      <p:sp>
        <p:nvSpPr>
          <p:cNvPr id="6" name="k definition"/>
          <p:cNvSpPr txBox="1"/>
          <p:nvPr/>
        </p:nvSpPr>
        <p:spPr>
          <a:xfrm>
            <a:off x="548640" y="19385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k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= devices whose output matches the spec FSM  ·  support = k, contradiction = n − k  ·  the case guides; clause + tool decide</a:t>
            </a:r>
            <a:endParaRPr lang="en-US" sz="1400" dirty="0"/>
          </a:p>
        </p:txBody>
      </p:sp>
      <p:sp>
        <p:nvSpPr>
          <p:cNvPr id="7" name="label"/>
          <p:cNvSpPr txBox="1"/>
          <p:nvPr/>
        </p:nvSpPr>
        <p:spPr>
          <a:xfrm>
            <a:off x="548640" y="23957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CASE</a:t>
            </a:r>
            <a:endParaRPr lang="en-US" sz="1100" dirty="0"/>
          </a:p>
        </p:txBody>
      </p:sp>
      <p:sp>
        <p:nvSpPr>
          <p:cNvPr id="8" name="label"/>
          <p:cNvSpPr txBox="1"/>
          <p:nvPr/>
        </p:nvSpPr>
        <p:spPr>
          <a:xfrm>
            <a:off x="2971800" y="23957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k</a:t>
            </a:r>
            <a:endParaRPr lang="en-US" sz="1100" dirty="0"/>
          </a:p>
        </p:txBody>
      </p:sp>
      <p:sp>
        <p:nvSpPr>
          <p:cNvPr id="9" name="label"/>
          <p:cNvSpPr txBox="1"/>
          <p:nvPr/>
        </p:nvSpPr>
        <p:spPr>
          <a:xfrm>
            <a:off x="4343400" y="23957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DEVICES AMONG THEMSELVES</a:t>
            </a:r>
            <a:endParaRPr lang="en-US" sz="1100" dirty="0"/>
          </a:p>
        </p:txBody>
      </p:sp>
      <p:sp>
        <p:nvSpPr>
          <p:cNvPr id="10" name="label"/>
          <p:cNvSpPr txBox="1"/>
          <p:nvPr/>
        </p:nvSpPr>
        <p:spPr>
          <a:xfrm>
            <a:off x="6355080" y="23957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WHAT IT USUALLY MEANS</a:t>
            </a:r>
            <a:endParaRPr lang="en-US" sz="1100" dirty="0"/>
          </a:p>
        </p:txBody>
      </p:sp>
      <p:sp>
        <p:nvSpPr>
          <p:cNvPr id="11" name="label"/>
          <p:cNvSpPr txBox="1"/>
          <p:nvPr/>
        </p:nvSpPr>
        <p:spPr>
          <a:xfrm>
            <a:off x="9646920" y="23957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LIKELY LABELS</a:t>
            </a:r>
            <a:endParaRPr lang="en-US" sz="1100" dirty="0"/>
          </a:p>
        </p:txBody>
      </p:sp>
      <p:sp>
        <p:nvSpPr>
          <p:cNvPr id="12" name="case 1 row"/>
          <p:cNvSpPr/>
          <p:nvPr/>
        </p:nvSpPr>
        <p:spPr>
          <a:xfrm>
            <a:off x="548640" y="2715768"/>
            <a:ext cx="11091672" cy="82296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case 1 name"/>
          <p:cNvSpPr txBox="1"/>
          <p:nvPr/>
        </p:nvSpPr>
        <p:spPr>
          <a:xfrm>
            <a:off x="731520" y="2715768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Case 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All agree</a:t>
            </a:r>
            <a:endParaRPr lang="en-US" sz="1400" dirty="0"/>
          </a:p>
        </p:txBody>
      </p:sp>
      <p:sp>
        <p:nvSpPr>
          <p:cNvPr id="14" name="label"/>
          <p:cNvSpPr txBox="1"/>
          <p:nvPr/>
        </p:nvSpPr>
        <p:spPr>
          <a:xfrm>
            <a:off x="2971800" y="2715768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k = n</a:t>
            </a:r>
            <a:endParaRPr lang="en-US" sz="1600" dirty="0"/>
          </a:p>
        </p:txBody>
      </p:sp>
      <p:sp>
        <p:nvSpPr>
          <p:cNvPr id="15" name="label"/>
          <p:cNvSpPr txBox="1"/>
          <p:nvPr/>
        </p:nvSpPr>
        <p:spPr>
          <a:xfrm>
            <a:off x="4343400" y="2715768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agree with the spec</a:t>
            </a:r>
            <a:endParaRPr lang="en-US" sz="1400" dirty="0"/>
          </a:p>
        </p:txBody>
      </p:sp>
      <p:sp>
        <p:nvSpPr>
          <p:cNvPr id="16" name="label"/>
          <p:cNvSpPr txBox="1"/>
          <p:nvPr/>
        </p:nvSpPr>
        <p:spPr>
          <a:xfrm>
            <a:off x="6355080" y="2715768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 discrepancy; support count rises</a:t>
            </a:r>
            <a:endParaRPr lang="en-US" sz="1400" dirty="0"/>
          </a:p>
        </p:txBody>
      </p:sp>
      <p:sp>
        <p:nvSpPr>
          <p:cNvPr id="17" name="label"/>
          <p:cNvSpPr txBox="1"/>
          <p:nvPr/>
        </p:nvSpPr>
        <p:spPr>
          <a:xfrm>
            <a:off x="9646920" y="2715768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not sent to Thrust 2</a:t>
            </a:r>
            <a:endParaRPr lang="en-US" sz="1400" dirty="0"/>
          </a:p>
        </p:txBody>
      </p:sp>
      <p:sp>
        <p:nvSpPr>
          <p:cNvPr id="18" name="case 2 row"/>
          <p:cNvSpPr/>
          <p:nvPr/>
        </p:nvSpPr>
        <p:spPr>
          <a:xfrm>
            <a:off x="548640" y="3611880"/>
            <a:ext cx="11091672" cy="822960"/>
          </a:xfrm>
          <a:prstGeom prst="roundRect">
            <a:avLst>
              <a:gd name="adj" fmla="val 6667"/>
            </a:avLst>
          </a:prstGeom>
          <a:solidFill>
            <a:schemeClr val="accent3">
              <a:alpha val="8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9" name="case 2 name"/>
          <p:cNvSpPr txBox="1"/>
          <p:nvPr/>
        </p:nvSpPr>
        <p:spPr>
          <a:xfrm>
            <a:off x="731520" y="36118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Case 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Devices agree, spec differs</a:t>
            </a:r>
            <a:endParaRPr lang="en-US" sz="1400" dirty="0"/>
          </a:p>
        </p:txBody>
      </p:sp>
      <p:sp>
        <p:nvSpPr>
          <p:cNvPr id="20" name="label"/>
          <p:cNvSpPr txBox="1"/>
          <p:nvPr/>
        </p:nvSpPr>
        <p:spPr>
          <a:xfrm>
            <a:off x="2971800" y="36118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k = 0</a:t>
            </a:r>
            <a:endParaRPr lang="en-US" sz="1600" dirty="0"/>
          </a:p>
        </p:txBody>
      </p:sp>
      <p:sp>
        <p:nvSpPr>
          <p:cNvPr id="21" name="label"/>
          <p:cNvSpPr txBox="1"/>
          <p:nvPr/>
        </p:nvSpPr>
        <p:spPr>
          <a:xfrm>
            <a:off x="4343400" y="36118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all agree with each other</a:t>
            </a:r>
            <a:endParaRPr lang="en-US" sz="1400" dirty="0"/>
          </a:p>
        </p:txBody>
      </p:sp>
      <p:sp>
        <p:nvSpPr>
          <p:cNvPr id="22" name="label"/>
          <p:cNvSpPr txBox="1"/>
          <p:nvPr/>
        </p:nvSpPr>
        <p:spPr>
          <a:xfrm>
            <a:off x="6355080" y="361188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LLM misread the clause, or a flaw every vendor shares (differential testing misses this)</a:t>
            </a:r>
            <a:endParaRPr lang="en-US" sz="1400" dirty="0"/>
          </a:p>
        </p:txBody>
      </p:sp>
      <p:sp>
        <p:nvSpPr>
          <p:cNvPr id="23" name="case 2 label a"/>
          <p:cNvSpPr txBox="1"/>
          <p:nvPr/>
        </p:nvSpPr>
        <p:spPr>
          <a:xfrm>
            <a:off x="9646920" y="3771900"/>
            <a:ext cx="502920" cy="502920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(a)</a:t>
            </a:r>
            <a:endParaRPr lang="en-US" sz="1300" dirty="0"/>
          </a:p>
        </p:txBody>
      </p:sp>
      <p:sp>
        <p:nvSpPr>
          <p:cNvPr id="24" name="case 2 label d"/>
          <p:cNvSpPr txBox="1"/>
          <p:nvPr/>
        </p:nvSpPr>
        <p:spPr>
          <a:xfrm>
            <a:off x="10268712" y="3771900"/>
            <a:ext cx="502920" cy="502920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(d)</a:t>
            </a:r>
            <a:endParaRPr lang="en-US" sz="1300" dirty="0"/>
          </a:p>
        </p:txBody>
      </p:sp>
      <p:sp>
        <p:nvSpPr>
          <p:cNvPr id="25" name="case 2 label b"/>
          <p:cNvSpPr txBox="1"/>
          <p:nvPr/>
        </p:nvSpPr>
        <p:spPr>
          <a:xfrm>
            <a:off x="10890504" y="3771900"/>
            <a:ext cx="502920" cy="502920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(b)</a:t>
            </a:r>
            <a:endParaRPr lang="en-US" sz="1300" dirty="0"/>
          </a:p>
        </p:txBody>
      </p:sp>
      <p:sp>
        <p:nvSpPr>
          <p:cNvPr id="26" name="case 3 row"/>
          <p:cNvSpPr/>
          <p:nvPr/>
        </p:nvSpPr>
        <p:spPr>
          <a:xfrm>
            <a:off x="548640" y="4507992"/>
            <a:ext cx="11091672" cy="82296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case 3 name"/>
          <p:cNvSpPr txBox="1"/>
          <p:nvPr/>
        </p:nvSpPr>
        <p:spPr>
          <a:xfrm>
            <a:off x="731520" y="4507992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Case 3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Split</a:t>
            </a:r>
            <a:endParaRPr lang="en-US" sz="1400" dirty="0"/>
          </a:p>
        </p:txBody>
      </p:sp>
      <p:sp>
        <p:nvSpPr>
          <p:cNvPr id="28" name="label"/>
          <p:cNvSpPr txBox="1"/>
          <p:nvPr/>
        </p:nvSpPr>
        <p:spPr>
          <a:xfrm>
            <a:off x="2971800" y="4507992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0 &lt; k &lt; n</a:t>
            </a:r>
            <a:endParaRPr lang="en-US" sz="1600" dirty="0"/>
          </a:p>
        </p:txBody>
      </p:sp>
      <p:sp>
        <p:nvSpPr>
          <p:cNvPr id="29" name="label"/>
          <p:cNvSpPr txBox="1"/>
          <p:nvPr/>
        </p:nvSpPr>
        <p:spPr>
          <a:xfrm>
            <a:off x="4343400" y="4507992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split</a:t>
            </a:r>
            <a:endParaRPr lang="en-US" sz="1400" dirty="0"/>
          </a:p>
        </p:txBody>
      </p:sp>
      <p:sp>
        <p:nvSpPr>
          <p:cNvPr id="30" name="label"/>
          <p:cNvSpPr txBox="1"/>
          <p:nvPr/>
        </p:nvSpPr>
        <p:spPr>
          <a:xfrm>
            <a:off x="6355080" y="4507992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Outliers break the standard, the spec allows both, or vendors followed different clauses</a:t>
            </a:r>
            <a:endParaRPr lang="en-US" sz="1400" dirty="0"/>
          </a:p>
        </p:txBody>
      </p:sp>
      <p:sp>
        <p:nvSpPr>
          <p:cNvPr id="31" name="case 3 label d"/>
          <p:cNvSpPr txBox="1"/>
          <p:nvPr/>
        </p:nvSpPr>
        <p:spPr>
          <a:xfrm>
            <a:off x="9646920" y="4668012"/>
            <a:ext cx="502920" cy="502920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(d)</a:t>
            </a:r>
            <a:endParaRPr lang="en-US" sz="1300" dirty="0"/>
          </a:p>
        </p:txBody>
      </p:sp>
      <p:sp>
        <p:nvSpPr>
          <p:cNvPr id="32" name="case 3 label b"/>
          <p:cNvSpPr txBox="1"/>
          <p:nvPr/>
        </p:nvSpPr>
        <p:spPr>
          <a:xfrm>
            <a:off x="10268712" y="4668012"/>
            <a:ext cx="502920" cy="502920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(b)</a:t>
            </a:r>
            <a:endParaRPr lang="en-US" sz="1300" dirty="0"/>
          </a:p>
        </p:txBody>
      </p:sp>
      <p:sp>
        <p:nvSpPr>
          <p:cNvPr id="33" name="case 3 label c"/>
          <p:cNvSpPr txBox="1"/>
          <p:nvPr/>
        </p:nvSpPr>
        <p:spPr>
          <a:xfrm>
            <a:off x="10890504" y="4668012"/>
            <a:ext cx="502920" cy="502920"/>
          </a:xfrm>
          <a:prstGeom prst="ellipse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(c)</a:t>
            </a:r>
            <a:endParaRPr lang="en-US" sz="1300" dirty="0"/>
          </a:p>
        </p:txBody>
      </p:sp>
      <p:sp>
        <p:nvSpPr>
          <p:cNvPr id="34" name="case 4 row"/>
          <p:cNvSpPr/>
          <p:nvPr/>
        </p:nvSpPr>
        <p:spPr>
          <a:xfrm>
            <a:off x="548640" y="5404104"/>
            <a:ext cx="11091672" cy="82296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5" name="case 4 name"/>
          <p:cNvSpPr txBox="1"/>
          <p:nvPr/>
        </p:nvSpPr>
        <p:spPr>
          <a:xfrm>
            <a:off x="731520" y="5404104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Case 4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None match</a:t>
            </a:r>
            <a:endParaRPr lang="en-US" sz="1400" dirty="0"/>
          </a:p>
        </p:txBody>
      </p:sp>
      <p:sp>
        <p:nvSpPr>
          <p:cNvPr id="36" name="label"/>
          <p:cNvSpPr txBox="1"/>
          <p:nvPr/>
        </p:nvSpPr>
        <p:spPr>
          <a:xfrm>
            <a:off x="2971800" y="5404104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k = 0</a:t>
            </a:r>
            <a:endParaRPr lang="en-US" sz="1600" dirty="0"/>
          </a:p>
        </p:txBody>
      </p:sp>
      <p:sp>
        <p:nvSpPr>
          <p:cNvPr id="37" name="label"/>
          <p:cNvSpPr txBox="1"/>
          <p:nvPr/>
        </p:nvSpPr>
        <p:spPr>
          <a:xfrm>
            <a:off x="4343400" y="5404104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disagree with each other too</a:t>
            </a:r>
            <a:endParaRPr lang="en-US" sz="1400" dirty="0"/>
          </a:p>
        </p:txBody>
      </p:sp>
      <p:sp>
        <p:nvSpPr>
          <p:cNvPr id="38" name="label"/>
          <p:cNvSpPr txBox="1"/>
          <p:nvPr/>
        </p:nvSpPr>
        <p:spPr>
          <a:xfrm>
            <a:off x="6355080" y="5404104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Spec unclear, or learning noise</a:t>
            </a:r>
            <a:endParaRPr lang="en-US" sz="1400" dirty="0"/>
          </a:p>
        </p:txBody>
      </p:sp>
      <p:sp>
        <p:nvSpPr>
          <p:cNvPr id="39" name="case 4 label c"/>
          <p:cNvSpPr txBox="1"/>
          <p:nvPr/>
        </p:nvSpPr>
        <p:spPr>
          <a:xfrm>
            <a:off x="9646920" y="5564124"/>
            <a:ext cx="502920" cy="502920"/>
          </a:xfrm>
          <a:prstGeom prst="ellipse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(c)</a:t>
            </a:r>
            <a:endParaRPr lang="en-US" sz="1300" dirty="0"/>
          </a:p>
        </p:txBody>
      </p:sp>
      <p:sp>
        <p:nvSpPr>
          <p:cNvPr id="40" name="case 4 label b"/>
          <p:cNvSpPr txBox="1"/>
          <p:nvPr/>
        </p:nvSpPr>
        <p:spPr>
          <a:xfrm>
            <a:off x="10268712" y="5564124"/>
            <a:ext cx="502920" cy="502920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(b)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AS Loop">
  <a:themeElements>
    <a:clrScheme name="NAS Loop">
      <a:dk1>
        <a:srgbClr val="14212B"/>
      </a:dk1>
      <a:lt1>
        <a:srgbClr val="FFFFFF"/>
      </a:lt1>
      <a:dk2>
        <a:srgbClr val="566672"/>
      </a:dk2>
      <a:lt2>
        <a:srgbClr val="F1F5F6"/>
      </a:lt2>
      <a:accent1>
        <a:srgbClr val="0D7478"/>
      </a:accent1>
      <a:accent2>
        <a:srgbClr val="A85A0E"/>
      </a:accent2>
      <a:accent3>
        <a:srgbClr val="BF3328"/>
      </a:accent3>
      <a:accent4>
        <a:srgbClr val="2860A6"/>
      </a:accent4>
      <a:accent5>
        <a:srgbClr val="7449AD"/>
      </a:accent5>
      <a:accent6>
        <a:srgbClr val="66727C"/>
      </a:accent6>
      <a:hlink>
        <a:srgbClr val="0D7478"/>
      </a:hlink>
      <a:folHlink>
        <a:srgbClr val="7449AD"/>
      </a:folHlink>
    </a:clrScheme>
    <a:fontScheme name="NAS Loop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Closing the Loop Between Specification and Implementation</dc:title>
  <dc:subject>PptxGenJS Presentation</dc:subject>
  <dc:creator>Ajoy Dey</dc:creator>
  <cp:lastModifiedBy>Ajoy Dey</cp:lastModifiedBy>
  <cp:revision>1</cp:revision>
  <dcterms:created xsi:type="dcterms:W3CDTF">2026-10-10T14:32:50Z</dcterms:created>
  <dcterms:modified xsi:type="dcterms:W3CDTF">2026-10-10T14:32:50Z</dcterms:modified>
</cp:coreProperties>
</file>